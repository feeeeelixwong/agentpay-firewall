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12e2de716f4422" /><Relationship Type="http://schemas.openxmlformats.org/officeDocument/2006/relationships/extended-properties" Target="/docProps/app.xml" Id="R23f24ca6d5064d37" /><Relationship Type="http://schemas.openxmlformats.org/officeDocument/2006/relationships/officeDocument" Target="/ppt/presentation.xml" Id="R12266722c6b144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476e88fd2b479c"/>
  </p:sldMasterIdLst>
  <p:notesMasterIdLst>
    <p:notesMasterId xmlns:r="http://schemas.openxmlformats.org/officeDocument/2006/relationships" r:id="Rc41f0638ea07416a"/>
  </p:notesMasterIdLst>
  <p:sldIdLst>
    <p:sldId xmlns:r="http://schemas.openxmlformats.org/officeDocument/2006/relationships" id="256" r:id="R850ff289de484de5"/>
    <p:sldId xmlns:r="http://schemas.openxmlformats.org/officeDocument/2006/relationships" id="257" r:id="Reaa7496b09df4686"/>
    <p:sldId xmlns:r="http://schemas.openxmlformats.org/officeDocument/2006/relationships" id="258" r:id="Rb10fca8e1f1048a2"/>
    <p:sldId xmlns:r="http://schemas.openxmlformats.org/officeDocument/2006/relationships" id="259" r:id="R7babb46e03594f6b"/>
    <p:sldId xmlns:r="http://schemas.openxmlformats.org/officeDocument/2006/relationships" id="260" r:id="R3b6fa66e4a534253"/>
    <p:sldId xmlns:r="http://schemas.openxmlformats.org/officeDocument/2006/relationships" id="261" r:id="R4e4e3d41a1f64635"/>
    <p:sldId xmlns:r="http://schemas.openxmlformats.org/officeDocument/2006/relationships" id="262" r:id="Rde5e7773243b48ba"/>
    <p:sldId xmlns:r="http://schemas.openxmlformats.org/officeDocument/2006/relationships" id="263" r:id="R18442b93a1684c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da2b2da59b469b" /><Relationship Type="http://schemas.openxmlformats.org/officeDocument/2006/relationships/slideMaster" Target="/ppt/slideMasters/slideMaster1.xml" Id="R39476e88fd2b479c" /><Relationship Type="http://schemas.openxmlformats.org/officeDocument/2006/relationships/notesMaster" Target="/ppt/notesMasters/notesMaster1.xml" Id="Rc41f0638ea07416a" /><Relationship Type="http://schemas.openxmlformats.org/officeDocument/2006/relationships/presProps" Target="/ppt/presProps.xml" Id="Rb560197831f849d3" /><Relationship Type="http://schemas.openxmlformats.org/officeDocument/2006/relationships/tableStyles" Target="/ppt/tableStyles.xml" Id="R452d21a7e35c4c88" /><Relationship Type="http://schemas.openxmlformats.org/officeDocument/2006/relationships/slide" Target="/ppt/slides/slide1.xml" Id="R850ff289de484de5" /><Relationship Type="http://schemas.openxmlformats.org/officeDocument/2006/relationships/slide" Target="/ppt/slides/slide2.xml" Id="Reaa7496b09df4686" /><Relationship Type="http://schemas.openxmlformats.org/officeDocument/2006/relationships/slide" Target="/ppt/slides/slide3.xml" Id="Rb10fca8e1f1048a2" /><Relationship Type="http://schemas.openxmlformats.org/officeDocument/2006/relationships/slide" Target="/ppt/slides/slide4.xml" Id="R7babb46e03594f6b" /><Relationship Type="http://schemas.openxmlformats.org/officeDocument/2006/relationships/slide" Target="/ppt/slides/slide5.xml" Id="R3b6fa66e4a534253" /><Relationship Type="http://schemas.openxmlformats.org/officeDocument/2006/relationships/slide" Target="/ppt/slides/slide6.xml" Id="R4e4e3d41a1f64635" /><Relationship Type="http://schemas.openxmlformats.org/officeDocument/2006/relationships/slide" Target="/ppt/slides/slide7.xml" Id="Rde5e7773243b48ba" /><Relationship Type="http://schemas.openxmlformats.org/officeDocument/2006/relationships/slide" Target="/ppt/slides/slide8.xml" Id="R18442b93a1684c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533da7a8ff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65bf19ac88402d" /><Relationship Type="http://schemas.openxmlformats.org/officeDocument/2006/relationships/notesMaster" Target="/ppt/notesMasters/notesMaster1.xml" Id="Ra19564f1fede49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b40496ed884df6" /><Relationship Type="http://schemas.openxmlformats.org/officeDocument/2006/relationships/notesMaster" Target="/ppt/notesMasters/notesMaster1.xml" Id="R6f9722f671c743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1852a22b80482d" /><Relationship Type="http://schemas.openxmlformats.org/officeDocument/2006/relationships/notesMaster" Target="/ppt/notesMasters/notesMaster1.xml" Id="R008f6961716b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bae67564994797" /><Relationship Type="http://schemas.openxmlformats.org/officeDocument/2006/relationships/notesMaster" Target="/ppt/notesMasters/notesMaster1.xml" Id="R843510033dba46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2a1f0808b54c8a" /><Relationship Type="http://schemas.openxmlformats.org/officeDocument/2006/relationships/notesMaster" Target="/ppt/notesMasters/notesMaster1.xml" Id="Rb4b134a1811f47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4de75abbd4088" /><Relationship Type="http://schemas.openxmlformats.org/officeDocument/2006/relationships/notesMaster" Target="/ppt/notesMasters/notesMaster1.xml" Id="Rf5ff4ffe88c748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39ce561ea94ea6" /><Relationship Type="http://schemas.openxmlformats.org/officeDocument/2006/relationships/notesMaster" Target="/ppt/notesMasters/notesMaster1.xml" Id="R7b1465b1241b4d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0d21e8a87d484b" /><Relationship Type="http://schemas.openxmlformats.org/officeDocument/2006/relationships/notesMaster" Target="/ppt/notesMasters/notesMaster1.xml" Id="R5c533d891c1e44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product: https://agentpay-firewall.vercel.app</a:t>
            </a:r>
          </a:p>
          <a:p xmlns:a="http://schemas.openxmlformats.org/drawingml/2006/main">
            <a:r>
              <a:t>- Source: https://github.com/FeeeeelixWong/agentpay-firewall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implementation: https://agentpay-firewall.vercel.app</a:t>
            </a:r>
          </a:p>
          <a:p xmlns:a="http://schemas.openxmlformats.org/drawingml/2006/main">
            <a:r>
              <a:t>- Repository architecture and smoke tests: https://github.com/FeeeeelixWong/agentpay-firewall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Seller/buyer implementation: https://agentpay-firewall.vercel.app</a:t>
            </a:r>
          </a:p>
          <a:p xmlns:a="http://schemas.openxmlformats.org/drawingml/2006/main">
            <a:r>
              <a:t>- Official AVM x402 integration: @x402/avm, @x402/express, and GoPlausible facilitator in the repository package.json and server code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captured from https://agentpay-firewall.vercel.app</a:t>
            </a:r>
          </a:p>
          <a:p xmlns:a="http://schemas.openxmlformats.org/drawingml/2006/main">
            <a:r>
              <a:t>- Seller link creation implementation: https://github.com/FeeeeelixWong/agentpay-firewall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captured from a signed checkout at https://agentpay-firewall.vercel.app/pay</a:t>
            </a:r>
          </a:p>
          <a:p xmlns:a="http://schemas.openxmlformats.org/drawingml/2006/main">
            <a:r>
              <a:t>- Buyer verification and Pera Wallet integration: https://github.com/FeeeeelixWong/agentpay-firewall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dynamic resource: https://agentpay-firewall.vercel.app/api/x402/pay</a:t>
            </a:r>
          </a:p>
          <a:p xmlns:a="http://schemas.openxmlformats.org/drawingml/2006/main">
            <a:r>
              <a:t>- Hosted smoke test and payment-link mismatch assertions: https://github.com/FeeeeelixWong/agentpay-firewall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Algorand Testnet receipt: https://lora.algokit.io/testnet/transaction/SEQAUK2K5SHHLUA35273OWDNCXXWVODYUUKPZUHQ6JZ2WPQEQWDQ</a:t>
            </a:r>
          </a:p>
          <a:p xmlns:a="http://schemas.openxmlformats.org/drawingml/2006/main">
            <a:r>
              <a:t>- Machine-readable evidence: docs/algorand-x402-settlement-evidence.json in https://github.com/FeeeeelixWong/agentpay-firewall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product: https://agentpay-firewall.vercel.app</a:t>
            </a:r>
          </a:p>
          <a:p xmlns:a="http://schemas.openxmlformats.org/drawingml/2006/main">
            <a:r>
              <a:t>- Source and reproducibility: https://github.com/FeeeeelixWong/agentpay-firewall</a:t>
            </a:r>
          </a:p>
          <a:p xmlns:a="http://schemas.openxmlformats.org/drawingml/2006/main">
            <a:r>
              <a:t>- Demo video: https://agentpay-firewall.vercel.app/agentpay-firewall-demo.mp4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d3828758245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32a093a4024184" /><Relationship Type="http://schemas.openxmlformats.org/officeDocument/2006/relationships/slideLayout" Target="/ppt/slideLayouts/slideLayout1.xml" Id="Rc62b46c184e14f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2b46c184e14f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829767b0c46e0" /><Relationship Type="http://schemas.openxmlformats.org/officeDocument/2006/relationships/notesSlide" Target="/ppt/notesSlides/notesSlide1.xml" Id="Rc958a2274de74a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720a278b94ad9" /><Relationship Type="http://schemas.openxmlformats.org/officeDocument/2006/relationships/notesSlide" Target="/ppt/notesSlides/notesSlide2.xml" Id="R659bd0e659f5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c0dc2c4034744" /><Relationship Type="http://schemas.openxmlformats.org/officeDocument/2006/relationships/notesSlide" Target="/ppt/notesSlides/notesSlide3.xml" Id="Ra2b52681efe949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7c8291f454ee8" /><Relationship Type="http://schemas.openxmlformats.org/officeDocument/2006/relationships/image" Target="/ppt/media/image.png" Id="Rff5ba26ddee6493b" /><Relationship Type="http://schemas.openxmlformats.org/officeDocument/2006/relationships/notesSlide" Target="/ppt/notesSlides/notesSlide4.xml" Id="Rc0c97db86d6e4a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e9b4637854c66" /><Relationship Type="http://schemas.openxmlformats.org/officeDocument/2006/relationships/image" Target="/ppt/media/image2.png" Id="R152fb22efc904615" /><Relationship Type="http://schemas.openxmlformats.org/officeDocument/2006/relationships/notesSlide" Target="/ppt/notesSlides/notesSlide5.xml" Id="R2146a84b12344a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beb817797456c" /><Relationship Type="http://schemas.openxmlformats.org/officeDocument/2006/relationships/notesSlide" Target="/ppt/notesSlides/notesSlide6.xml" Id="R5e1270d9fa094a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e53d611684337" /><Relationship Type="http://schemas.openxmlformats.org/officeDocument/2006/relationships/notesSlide" Target="/ppt/notesSlides/notesSlide7.xml" Id="Rd7d38424336347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934d167b94bf7" /><Relationship Type="http://schemas.openxmlformats.org/officeDocument/2006/relationships/notesSlide" Target="/ppt/notesSlides/notesSlide8.xml" Id="R64dcbd0c8cac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C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7CC1A-6307-41B5-9BE2-5E6568F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C4A14-C392-4EAC-8F62-1203684C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C21"/>
                </a:solidFill>
              </a:defRPr>
            </a:pPr>
            <a:r>
              <a:rPr sz="1200" b="1">
                <a:solidFill>
                  <a:srgbClr val="062C21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353CD-67A1-46BC-97DD-9CE252D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1F43D-79FF-4AC0-80D9-35E82512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One link from seller intent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to onchain settlement.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613E-8B7C-4283-85C9-DCB43F6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E3D9"/>
                </a:solidFill>
              </a:defRPr>
            </a:pPr>
            <a:r>
              <a:rPr sz="1800" b="0">
                <a:solidFill>
                  <a:srgbClr val="CDE3D9"/>
                </a:solidFill>
              </a:rPr>
              <a:t>Seller-created checkout links. Buyer-owned authorization.</a:t>
            </a:r>
          </a:p>
          <a:p xmlns:a="http://schemas.openxmlformats.org/drawingml/2006/main">
            <a:pPr algn="l">
              <a:defRPr sz="1800" b="0">
                <a:solidFill>
                  <a:srgbClr val="CDE3D9"/>
                </a:solidFill>
              </a:defRPr>
            </a:pPr>
            <a:r>
              <a:rPr sz="1800" b="0">
                <a:solidFill>
                  <a:srgbClr val="CDE3D9"/>
                </a:solidFill>
              </a:rPr>
              <a:t>Official x402 settlement on Algorand Testnet.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2FF31-56AA-4643-AA68-95C00A1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C9C77-DDC9-4540-8CD6-E2F2347A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2C21"/>
                </a:solidFill>
              </a:defRPr>
            </a:pPr>
            <a:r>
              <a:rPr sz="1650" b="1">
                <a:solidFill>
                  <a:srgbClr val="062C21"/>
                </a:solidFill>
              </a:rPr>
              <a:t>agentpay-firewall.vercel.app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6EE59-D6D4-4B3A-802C-B292D583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C0B2"/>
                </a:solidFill>
              </a:defRPr>
            </a:pPr>
            <a:r>
              <a:rPr sz="825" b="1">
                <a:solidFill>
                  <a:srgbClr val="9DC0B2"/>
                </a:solidFill>
              </a:rPr>
              <a:t>BRAINWAVE 2026  |  ALGORAND x402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ACF00-C4D1-45A9-BDF4-212D86EB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C0B2"/>
                </a:solidFill>
              </a:defRPr>
            </a:pPr>
            <a:r>
              <a:rPr sz="825" b="1">
                <a:solidFill>
                  <a:srgbClr val="9DC0B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4167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1205F-730D-4377-B1B5-097D6159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8E8E4-23F4-4936-AC84-F5F77189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76BEB-C7B4-4DB4-AAEE-A288AF8D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</a:defRPr>
            </a:pPr>
            <a:r>
              <a:rPr sz="1350" b="1">
                <a:solidFill>
                  <a:srgbClr val="10231D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958FC-9A18-437C-A4FB-B523B01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31D"/>
                </a:solidFill>
              </a:defRPr>
            </a:pPr>
            <a:r>
              <a:rPr sz="3075" b="1">
                <a:solidFill>
                  <a:srgbClr val="10231D"/>
                </a:solidFill>
              </a:rPr>
              <a:t>A fixed endpoint proves the protocol.</a:t>
            </a:r>
          </a:p>
          <a:p xmlns:a="http://schemas.openxmlformats.org/drawingml/2006/main">
            <a:pPr algn="l">
              <a:defRPr sz="3075" b="1">
                <a:solidFill>
                  <a:srgbClr val="10231D"/>
                </a:solidFill>
              </a:defRPr>
            </a:pPr>
            <a:r>
              <a:rPr sz="3075" b="1">
                <a:solidFill>
                  <a:srgbClr val="10231D"/>
                </a:solidFill>
              </a:rPr>
              <a:t>It does not create a usable payment product.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D978D-2934-474E-AC89-B64B27A0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8363"/>
                </a:solidFill>
              </a:defRPr>
            </a:pPr>
            <a:r>
              <a:rPr sz="1350" b="1">
                <a:solidFill>
                  <a:srgbClr val="078363"/>
                </a:solidFill>
              </a:rPr>
              <a:t>The missing product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B9428-3D93-47AE-B96B-41B91CD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363"/>
                </a:solidFill>
              </a:defRPr>
            </a:pPr>
            <a:r>
              <a:rPr sz="1500" b="1">
                <a:solidFill>
                  <a:srgbClr val="07836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426D-97A9-4F24-8073-7BE3D8D1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D"/>
                </a:solidFill>
              </a:defRPr>
            </a:pPr>
            <a:r>
              <a:rPr sz="1875" b="1">
                <a:solidFill>
                  <a:srgbClr val="10231D"/>
                </a:solidFill>
              </a:rPr>
              <a:t>Seller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F7B5A-2C9F-4C04-BF3C-F197BF95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337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F"/>
                </a:solidFill>
              </a:defRPr>
            </a:pPr>
            <a:r>
              <a:rPr sz="1425" b="0">
                <a:solidFill>
                  <a:srgbClr val="66756F"/>
                </a:solidFill>
              </a:rPr>
              <a:t>Amount and recipient must be set per payment, not per deployment.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3B2CE-207E-426F-833C-A4187E68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0"/>
          </a:solidFill>
          <a:ln xmlns:a="http://schemas.openxmlformats.org/drawingml/2006/main" w="0">
            <a:solidFill>
              <a:srgbClr val="C8D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575DA-2660-45C6-AE40-CFA2A76A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363"/>
                </a:solidFill>
              </a:defRPr>
            </a:pPr>
            <a:r>
              <a:rPr sz="1500" b="1">
                <a:solidFill>
                  <a:srgbClr val="07836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37FFC-637F-4A55-9D19-BD4E472A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D"/>
                </a:solidFill>
              </a:defRPr>
            </a:pPr>
            <a:r>
              <a:rPr sz="1875" b="1">
                <a:solidFill>
                  <a:srgbClr val="10231D"/>
                </a:solidFill>
              </a:rPr>
              <a:t>Buyer 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B05C3-0929-4E19-A064-7F80660E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100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F"/>
                </a:solidFill>
              </a:defRPr>
            </a:pPr>
            <a:r>
              <a:rPr sz="1425" b="0">
                <a:solidFill>
                  <a:srgbClr val="66756F"/>
                </a:solidFill>
              </a:rPr>
              <a:t>The buyer must see exact terms before opening a wallet.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D3915-8F81-44FA-9AF0-A40B40E4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0"/>
          </a:solidFill>
          <a:ln xmlns:a="http://schemas.openxmlformats.org/drawingml/2006/main" w="0">
            <a:solidFill>
              <a:srgbClr val="C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4D359-483E-47A3-BB6B-2C497F5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8363"/>
                </a:solidFill>
              </a:defRPr>
            </a:pPr>
            <a:r>
              <a:rPr sz="1500" b="1">
                <a:solidFill>
                  <a:srgbClr val="07836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61559-93DC-444D-94A9-AEF63C26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D"/>
                </a:solidFill>
              </a:defRPr>
            </a:pPr>
            <a:r>
              <a:rPr sz="1875" b="1">
                <a:solidFill>
                  <a:srgbClr val="10231D"/>
                </a:solidFill>
              </a:rPr>
              <a:t>Verifiable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51EE9-7AF1-470F-8B4D-CE88CEFF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863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56F"/>
                </a:solidFill>
              </a:defRPr>
            </a:pPr>
            <a:r>
              <a:rPr sz="1425" b="0">
                <a:solidFill>
                  <a:srgbClr val="66756F"/>
                </a:solidFill>
              </a:rPr>
              <a:t>The 402 challenge and final receipt must match those terms.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59BBE-313D-4642-912E-FF06D765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BRAINWAVE 2026  |  ALGORAND x402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CAAEB-D4FD-4BF6-8080-84701FA7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2708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2C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CA425-D70B-4A2F-8C7F-9D3AFA94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A0835-18AD-43D8-9F49-502BF40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C21"/>
                </a:solidFill>
              </a:defRPr>
            </a:pPr>
            <a:r>
              <a:rPr sz="1200" b="1">
                <a:solidFill>
                  <a:srgbClr val="062C21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53E56-79BB-49DB-A640-C3A7A9C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19BFE-2219-4E6C-B025-EBAF8D71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The product has two users and one shared source of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83F00-6400-4A86-A7D0-7CB5164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D8CD"/>
                </a:solidFill>
              </a:defRPr>
            </a:pPr>
            <a:r>
              <a:rPr sz="1500" b="0">
                <a:solidFill>
                  <a:srgbClr val="BFD8CD"/>
                </a:solidFill>
              </a:rPr>
              <a:t>Seller intent becomes a signed checkout; the buyer approves only after the x402 challenge matches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5EA3F-6685-47F3-A20B-8B75BF1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67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84B8E-F454-4668-9B58-B32C97D9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90925"/>
            <a:ext cx="2095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16F35-AFC0-4C69-9459-E0AF3566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3569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F6263-A116-4EEE-A23C-1640B77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E8C5"/>
                </a:solidFill>
              </a:defRPr>
            </a:pPr>
            <a:r>
              <a:rPr sz="1050" b="1">
                <a:solidFill>
                  <a:srgbClr val="9DE8C5"/>
                </a:solidFill>
              </a:rPr>
              <a:t>SELLER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6745B-4EDA-40D1-88D0-AB569AD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Set amount + recipient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DEA93-E7F8-45B7-AA5D-062AA85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67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51884-7EDA-4CD8-89B7-5104D90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90925"/>
            <a:ext cx="2095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A67D3-EBFE-4BE4-8248-D7FB5746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3569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35C76-E850-4484-8B0F-6757559E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E8C5"/>
                </a:solidFill>
              </a:defRPr>
            </a:pPr>
            <a:r>
              <a:rPr sz="1050" b="1">
                <a:solidFill>
                  <a:srgbClr val="9DE8C5"/>
                </a:solidFill>
              </a:rPr>
              <a:t>SIGNED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E463C-2D1F-4CE4-B9FA-FF1D391C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Signed checkout terms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2AFF8-CC7A-47B8-BA2D-A33F1B6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67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42FAF-37BA-4823-BEE7-CD2B4B18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90925"/>
            <a:ext cx="2095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5F2D8-35C6-4346-B3A9-E2076F2E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9DE8C5"/>
          </a:solidFill>
          <a:ln xmlns:a="http://schemas.openxmlformats.org/drawingml/2006/main" w="9525">
            <a:solidFill>
              <a:srgbClr val="9DE8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50930-AB21-49F9-A206-958771B4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2C21"/>
                </a:solidFill>
              </a:defRPr>
            </a:pPr>
            <a:r>
              <a:rPr sz="1050" b="1">
                <a:solidFill>
                  <a:srgbClr val="062C21"/>
                </a:solidFill>
              </a:rPr>
              <a:t>BUYER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47D68-0494-4E49-A5E9-D738FD7D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290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2C21"/>
                </a:solidFill>
              </a:defRPr>
            </a:pPr>
            <a:r>
              <a:rPr sz="1500" b="1">
                <a:solidFill>
                  <a:srgbClr val="062C21"/>
                </a:solidFill>
              </a:rPr>
              <a:t>Review + connect Pera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E14A5-F427-4BEF-B68E-A08C2BF8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671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4836B-A0B7-4DC1-B757-218FF34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90925"/>
            <a:ext cx="2095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23ED7-1D2E-46BB-BA55-91211246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3569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9533B-1E34-41F7-8C1F-7177F224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E8C5"/>
                </a:solidFill>
              </a:defRPr>
            </a:pPr>
            <a:r>
              <a:rPr sz="1050" b="1">
                <a:solidFill>
                  <a:srgbClr val="9DE8C5"/>
                </a:solidFill>
              </a:rPr>
              <a:t>x402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FDE3C-53AD-4468-945B-F0C8AB7C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402 challenge + retry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20F56-7EDA-4C1E-A96C-551ADE66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956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3569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6F3B8-FA7C-4AE2-A6F1-CF0C930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E8C5"/>
                </a:solidFill>
              </a:defRPr>
            </a:pPr>
            <a:r>
              <a:rPr sz="1050" b="1">
                <a:solidFill>
                  <a:srgbClr val="9DE8C5"/>
                </a:solidFill>
              </a:rPr>
              <a:t>RECEIPT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588F2F-6883-4DCB-9072-B1D4D429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4290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Algorand settlement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0F4155-40C0-4464-8479-04D95211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DE3D9"/>
                </a:solidFill>
              </a:defRPr>
            </a:pPr>
            <a:r>
              <a:rPr sz="1500" b="0">
                <a:solidFill>
                  <a:srgbClr val="CDE3D9"/>
                </a:solidFill>
              </a:rPr>
              <a:t>No private keys enter AgentPay. The buyer signs in Pera Wallet; GoPlausible verifies and settles.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64EBB6-7B3A-452C-AA4F-4F92BD79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C0B2"/>
                </a:solidFill>
              </a:defRPr>
            </a:pPr>
            <a:r>
              <a:rPr sz="825" b="1">
                <a:solidFill>
                  <a:srgbClr val="9DC0B2"/>
                </a:solidFill>
              </a:rPr>
              <a:t>BRAINWAVE 2026  |  ALGORAND x402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03AEB-CD6B-415E-ADD9-15C77A44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C0B2"/>
                </a:solidFill>
              </a:defRPr>
            </a:pPr>
            <a:r>
              <a:rPr sz="825" b="1">
                <a:solidFill>
                  <a:srgbClr val="9DC0B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0388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9490A-7535-4181-9473-7E1B3B9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835EC-11DE-43D1-B4FD-7F33F2F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748E2-9495-4BE5-9ACF-2289876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</a:defRPr>
            </a:pPr>
            <a:r>
              <a:rPr sz="1350" b="1">
                <a:solidFill>
                  <a:srgbClr val="10231D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FC2B1-0DDC-465F-9BDF-3E881028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31D"/>
                </a:solidFill>
              </a:defRPr>
            </a:pPr>
            <a:r>
              <a:rPr sz="2775" b="1">
                <a:solidFill>
                  <a:srgbClr val="10231D"/>
                </a:solidFill>
              </a:rPr>
              <a:t>The seller controls every payment without touching server config.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5BAC-523C-4D4C-B00D-DDB944A8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Set a title, exact USDC amount, receiving address, and context. One click creates a 7-day signed checkout link.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ba26ddee6493b"/>
          <a:srcRect xmlns:a="http://schemas.openxmlformats.org/drawingml/2006/main" l="0" t="31275" r="0" b="312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419350"/>
            <a:ext cx="1085850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46246-0BA3-4061-A099-46E035ED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BRAINWAVE 2026  |  ALGORAND x402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46C5-3800-4A49-B289-58C2C032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2781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E54C8-47A7-4A36-823E-31638327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1D287-E1A4-424C-8891-5737AEB8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7332B-9559-41DF-ADAF-08151228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</a:defRPr>
            </a:pPr>
            <a:r>
              <a:rPr sz="1350" b="1">
                <a:solidFill>
                  <a:srgbClr val="10231D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658BA-23B1-4766-8358-9DDA59CB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D"/>
                </a:solidFill>
              </a:defRPr>
            </a:pPr>
            <a:r>
              <a:rPr sz="2925" b="1">
                <a:solidFill>
                  <a:srgbClr val="10231D"/>
                </a:solidFill>
              </a:rPr>
              <a:t>The buyer sees the terms before the wallet opens.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12C6D-2966-4ADE-8C95-07622CBE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Recipient, amount, network, and expiry are visible and verified against the signed link.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fb22efc904615"/>
          <a:srcRect xmlns:a="http://schemas.openxmlformats.org/drawingml/2006/main" l="0" t="10590" r="0" b="10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343150"/>
            <a:ext cx="5105400" cy="360045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2ED91-5D0A-4A9B-8DAE-C2755213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24DB3-6BAF-4F35-841E-8E76927D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527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363"/>
                </a:solidFill>
              </a:defRPr>
            </a:pPr>
            <a:r>
              <a:rPr sz="1125" b="1">
                <a:solidFill>
                  <a:srgbClr val="078363"/>
                </a:solidFill>
              </a:rPr>
              <a:t>SIGNED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C6A02-2F09-4BC3-9AF3-BC351B39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Changing amount or recipient invalidates the request.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75409-769C-48AC-9651-0A43BC13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400FA-39BE-490E-B7BE-54618E35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86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363"/>
                </a:solidFill>
              </a:defRPr>
            </a:pPr>
            <a:r>
              <a:rPr sz="1125" b="1">
                <a:solidFill>
                  <a:srgbClr val="078363"/>
                </a:solidFill>
              </a:rPr>
              <a:t>BUYER CUSTODY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28073-9306-4173-962A-E86A987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Pera Wallet keeps the key and final approval.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48270-2417-43C7-AB05-78CA207A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489BE-B7FF-4E5E-A718-E318DC48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9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8363"/>
                </a:solidFill>
              </a:defRPr>
            </a:pPr>
            <a:r>
              <a:rPr sz="1125" b="1">
                <a:solidFill>
                  <a:srgbClr val="078363"/>
                </a:solidFill>
              </a:rPr>
              <a:t>MATCH BEFORE 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2E9C2-FCF7-4393-A745-1FE7B14F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D"/>
                </a:solidFill>
              </a:defRPr>
            </a:pPr>
            <a:r>
              <a:rPr sz="1500" b="1">
                <a:solidFill>
                  <a:srgbClr val="10231D"/>
                </a:solidFill>
              </a:rPr>
              <a:t>The live 402 challenge must match the checkout.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C5939-C872-47CB-BDD1-C1B40746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BRAINWAVE 2026  |  ALGORAND x402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64FDE-6076-4F3F-8E7F-4E377E24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6363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C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35FFD-6D0D-4F46-A11A-0BBD30D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9DE8C5"/>
          </a:solidFill>
          <a:ln xmlns:a="http://schemas.openxmlformats.org/drawingml/2006/main" w="0">
            <a:solidFill>
              <a:srgbClr val="9DE8C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6A3E9-83E5-4C40-81AB-6ABCC79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2C21"/>
                </a:solidFill>
              </a:defRPr>
            </a:pPr>
            <a:r>
              <a:rPr sz="1200" b="1">
                <a:solidFill>
                  <a:srgbClr val="062C21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9749B-4037-4866-996C-95C91E60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4E258-697D-4966-B5F0-2BCBA845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The signed checkout maps 1:1 to a real x402 v2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20FFF-7BA3-44F1-8B35-E50EF744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FD8CD"/>
                </a:solidFill>
              </a:defRPr>
            </a:pPr>
            <a:r>
              <a:rPr sz="1500" b="0">
                <a:solidFill>
                  <a:srgbClr val="BFD8CD"/>
                </a:solidFill>
              </a:rPr>
              <a:t>The buyer page rejects any mismatch before requesting a signature.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591BC-5A75-4CE3-B8C5-1054617B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39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2F69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817FC-57DA-4B1A-8FF7-685DEFB8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DE8C5"/>
                </a:solidFill>
              </a:defRPr>
            </a:pPr>
            <a:r>
              <a:rPr sz="2025" b="1">
                <a:solidFill>
                  <a:srgbClr val="9DE8C5"/>
                </a:solidFill>
              </a:rPr>
              <a:t>HTTP 402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AB327-B7B0-43E1-AA0E-AA7F7B2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PAYMENT-REQUIRED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BB297-623B-44E5-9669-5D3ED6CF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E8C5"/>
          </a:solidFill>
          <a:ln xmlns:a="http://schemas.openxmlformats.org/drawingml/2006/main" w="9525">
            <a:solidFill>
              <a:srgbClr val="9DE8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F3E7B-CA7F-4AB5-93F5-4844371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2C21"/>
                </a:solidFill>
              </a:defRPr>
            </a:pPr>
            <a:r>
              <a:rPr sz="975" b="1">
                <a:solidFill>
                  <a:srgbClr val="062C21"/>
                </a:solidFill>
              </a:rPr>
              <a:t>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117D5-92AA-4263-941F-62025DBB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C21"/>
                </a:solidFill>
              </a:defRPr>
            </a:pPr>
            <a:r>
              <a:rPr sz="1575" b="1">
                <a:solidFill>
                  <a:srgbClr val="062C21"/>
                </a:solidFill>
              </a:rPr>
              <a:t>x402 v2 exact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A61F4-9099-40C2-8507-DA242D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3569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AB477-6AFA-474F-8CE4-80963985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909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E8C5"/>
                </a:solidFill>
              </a:defRPr>
            </a:pPr>
            <a:r>
              <a:rPr sz="975" b="1">
                <a:solidFill>
                  <a:srgbClr val="9DE8C5"/>
                </a:solidFill>
              </a:rPr>
              <a:t>AMOUNT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472D0-85A4-4326-845C-3FC4B861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$0.001 USDC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96A10-DC03-427E-8C8A-51138BCD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3569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66B1A-18D3-4968-B2EF-B8B8EC2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E8C5"/>
                </a:solidFill>
              </a:defRPr>
            </a:pPr>
            <a:r>
              <a:rPr sz="975" b="1">
                <a:solidFill>
                  <a:srgbClr val="9DE8C5"/>
                </a:solidFill>
              </a:rPr>
              <a:t>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9EB65-F7B5-4BDF-AF5B-C47E6A18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Algorand Testnet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F69B1-D668-4252-903D-852956AF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766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132"/>
          </a:solidFill>
          <a:ln xmlns:a="http://schemas.openxmlformats.org/drawingml/2006/main" w="9525">
            <a:solidFill>
              <a:srgbClr val="3569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E212D-337B-4CB2-9BB7-E7817407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E8C5"/>
                </a:solidFill>
              </a:defRPr>
            </a:pPr>
            <a:r>
              <a:rPr sz="975" b="1">
                <a:solidFill>
                  <a:srgbClr val="9DE8C5"/>
                </a:solidFill>
              </a:rPr>
              <a:t>ASSET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EDE2F-3B16-4E35-A3F6-107559B0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ASA 10458941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ED381-F1D6-482B-82CB-A19E73BD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E8C5"/>
                </a:solidFill>
              </a:defRPr>
            </a:pPr>
            <a:r>
              <a:rPr sz="975" b="1">
                <a:solidFill>
                  <a:srgbClr val="9DE8C5"/>
                </a:solidFill>
              </a:rPr>
              <a:t>SIGNED RECIPIENT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52CA2-ABB6-43CF-959F-C212E56B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U3SN2UCQENDGE3CHKPBMXRSNJ2GFCCHLBT7NUC46VSPEGZDMOIQNCHPQJA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51137-B21C-499B-9B69-A1E1011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DC0B2"/>
                </a:solidFill>
              </a:defRPr>
            </a:pPr>
            <a:r>
              <a:rPr sz="825" b="1">
                <a:solidFill>
                  <a:srgbClr val="9DC0B2"/>
                </a:solidFill>
              </a:rPr>
              <a:t>BRAINWAVE 2026  |  ALGORAND x402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DB6DE-64C5-401F-B245-4BFC2B19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C0B2"/>
                </a:solidFill>
              </a:defRPr>
            </a:pPr>
            <a:r>
              <a:rPr sz="825" b="1">
                <a:solidFill>
                  <a:srgbClr val="9DC0B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3611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EA222-9427-4865-A318-994A433B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1EB4A-67EA-49FF-82E5-F39E7DB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A9097-663E-4639-81A1-74FB0DE1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</a:defRPr>
            </a:pPr>
            <a:r>
              <a:rPr sz="1350" b="1">
                <a:solidFill>
                  <a:srgbClr val="10231D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18CDB-CB04-4E40-8A58-85632DF0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31D"/>
                </a:solidFill>
              </a:defRPr>
            </a:pPr>
            <a:r>
              <a:rPr sz="2850" b="1">
                <a:solidFill>
                  <a:srgbClr val="10231D"/>
                </a:solidFill>
              </a:rPr>
              <a:t>The official AVM payment path has already settled on Algorand Testnet.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F14DC-5C10-49EC-8746-9F1605F7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The receipt proves live GoPlausible settlement for the same network, asset, amount, and recipient.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8DD78-053F-4C1E-B8CE-2A048C64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7622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062C21"/>
          </a:solidFill>
          <a:ln xmlns:a="http://schemas.openxmlformats.org/drawingml/2006/main" w="0">
            <a:solidFill>
              <a:srgbClr val="062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BD7CD-8F30-4708-A09A-61639D8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DE8C5"/>
                </a:solidFill>
              </a:defRPr>
            </a:pPr>
            <a:r>
              <a:rPr sz="1125" b="1">
                <a:solidFill>
                  <a:srgbClr val="9DE8C5"/>
                </a:solidFill>
              </a:rPr>
              <a:t>SETTLED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8C368-F2B4-4C81-86E5-85A33FBB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0.001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FC161-BD6B-4A11-A07C-5E088E83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D8CD"/>
                </a:solidFill>
              </a:defRPr>
            </a:pPr>
            <a:r>
              <a:rPr sz="1350" b="1">
                <a:solidFill>
                  <a:srgbClr val="BFD8CD"/>
                </a:solidFill>
              </a:rPr>
              <a:t>USDC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62B3B-73EF-48A9-AACD-410276B5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E8C5"/>
                </a:solidFill>
              </a:defRPr>
            </a:pPr>
            <a:r>
              <a:rPr sz="1050" b="1">
                <a:solidFill>
                  <a:srgbClr val="9DE8C5"/>
                </a:solidFill>
              </a:rPr>
              <a:t>ROUND 66373009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30448-60E9-4551-A5FE-537143C5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33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363"/>
                </a:solidFill>
              </a:defRPr>
            </a:pPr>
            <a:r>
              <a:rPr sz="975" b="1">
                <a:solidFill>
                  <a:srgbClr val="078363"/>
                </a:solidFill>
              </a:rPr>
              <a:t>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4A59B-C23F-410F-9A3D-BBCA028A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003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D"/>
                </a:solidFill>
              </a:defRPr>
            </a:pPr>
            <a:r>
              <a:rPr sz="1275" b="1">
                <a:solidFill>
                  <a:srgbClr val="10231D"/>
                </a:solidFill>
              </a:rPr>
              <a:t>25QHVX3LLUXIOHW7CRNRDDYMNZMVETYPGJIM66O2R2WZUMACHL2RDLRRBM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3FB3-1FCB-4150-A879-265472F1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14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0"/>
          </a:solidFill>
          <a:ln xmlns:a="http://schemas.openxmlformats.org/drawingml/2006/main" w="0">
            <a:solidFill>
              <a:srgbClr val="C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3DD0D-376E-4462-BE2D-3D57F49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24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363"/>
                </a:solidFill>
              </a:defRPr>
            </a:pPr>
            <a:r>
              <a:rPr sz="975" b="1">
                <a:solidFill>
                  <a:srgbClr val="078363"/>
                </a:solidFill>
              </a:rPr>
              <a:t>SELLER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37C14-4E32-4EFB-AB50-F39D41CA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909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D"/>
                </a:solidFill>
              </a:defRPr>
            </a:pPr>
            <a:r>
              <a:rPr sz="1275" b="1">
                <a:solidFill>
                  <a:srgbClr val="10231D"/>
                </a:solidFill>
              </a:rPr>
              <a:t>U3SN2UCQENDGE3CHKPBMXRSNJ2GFCCHLBT7NUC46VSPEGZDMOIQNCHPQJA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0344A-8850-4EFD-B36D-7C7428F2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053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0"/>
          </a:solidFill>
          <a:ln xmlns:a="http://schemas.openxmlformats.org/drawingml/2006/main" w="0">
            <a:solidFill>
              <a:srgbClr val="C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0427D-3A87-4BB8-8244-3B516F6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14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8363"/>
                </a:solidFill>
              </a:defRPr>
            </a:pPr>
            <a:r>
              <a:rPr sz="975" b="1">
                <a:solidFill>
                  <a:srgbClr val="078363"/>
                </a:solidFill>
              </a:rPr>
              <a:t>TRANSACTION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C8225-8663-4E68-B80D-BE6DD45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815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31D"/>
                </a:solidFill>
              </a:defRPr>
            </a:pPr>
            <a:r>
              <a:rPr sz="1275" b="1">
                <a:solidFill>
                  <a:srgbClr val="10231D"/>
                </a:solidFill>
              </a:rPr>
              <a:t>SEQAUK2K5SHHLUA35273OWDNCXXWVODYUUKPZUHQ6JZ2WPQEQWDQ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9B5CB-0803-49EC-BD74-17547C3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06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41663-BA3E-45C2-8431-3BA2DD54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8363"/>
                </a:solidFill>
              </a:defRPr>
            </a:pPr>
            <a:r>
              <a:rPr sz="1050" b="1">
                <a:solidFill>
                  <a:srgbClr val="078363"/>
                </a:solidFill>
              </a:rPr>
              <a:t>LORA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DB992-9B01-4579-9AFA-797D6C0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897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423A"/>
                </a:solidFill>
              </a:defRPr>
            </a:pPr>
            <a:r>
              <a:rPr sz="1125" b="0">
                <a:solidFill>
                  <a:srgbClr val="28423A"/>
                </a:solidFill>
              </a:rPr>
              <a:t>lora.algokit.io/testnet/transaction/SEQAUK2K5SHHLUA35273OWDNCXXWVODYUUKPZUHQ6JZ2WPQEQWDQ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26299-41FB-40B9-8C6C-34208B52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BRAINWAVE 2026  |  ALGORAND x402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C7270-6594-4A69-ACEC-4D5254FD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5443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748DA-BA50-49DE-A7FF-E1C61686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78363"/>
          </a:solidFill>
          <a:ln xmlns:a="http://schemas.openxmlformats.org/drawingml/2006/main" w="0">
            <a:solidFill>
              <a:srgbClr val="0783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DDE3D-9DFF-4F7B-8ACA-13914829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0882C-3191-4F3C-BDDE-3545337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</a:defRPr>
            </a:pPr>
            <a:r>
              <a:rPr sz="1350" b="1">
                <a:solidFill>
                  <a:srgbClr val="10231D"/>
                </a:solidFill>
              </a:rPr>
              <a:t>AgentPay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F1A23-DCB0-4283-B50F-778BEBFE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31D"/>
                </a:solidFill>
              </a:defRPr>
            </a:pPr>
            <a:r>
              <a:rPr sz="3900" b="1">
                <a:solidFill>
                  <a:srgbClr val="10231D"/>
                </a:solidFill>
              </a:rPr>
              <a:t>Ready for final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9882-9549-4E3B-9E88-F6182186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F"/>
                </a:solidFill>
              </a:defRPr>
            </a:pPr>
            <a:r>
              <a:rPr sz="1725" b="0">
                <a:solidFill>
                  <a:srgbClr val="66756F"/>
                </a:solidFill>
              </a:rPr>
              <a:t>A complete seller-to-buyer x402 payment flow, not a protocol mock.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B9D82-4D75-4BAC-8950-96353FAB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363"/>
                </a:solidFill>
              </a:defRPr>
            </a:pPr>
            <a:r>
              <a:rPr sz="1275" b="1">
                <a:solidFill>
                  <a:srgbClr val="07836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213ED-9352-4B26-B113-64EAAC79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D"/>
                </a:solidFill>
              </a:defRPr>
            </a:pPr>
            <a:r>
              <a:rPr sz="1875" b="1">
                <a:solidFill>
                  <a:srgbClr val="10231D"/>
                </a:solidFill>
              </a:rPr>
              <a:t>Usable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0F545-5A99-40B4-82A5-9730D161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F"/>
                </a:solidFill>
              </a:defRPr>
            </a:pPr>
            <a:r>
              <a:rPr sz="1350" b="0">
                <a:solidFill>
                  <a:srgbClr val="66756F"/>
                </a:solidFill>
              </a:rPr>
              <a:t>Seller workspace and buyer checkout are separate, focused 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B5B62-A1DA-448F-8AAA-93A7AB5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363"/>
                </a:solidFill>
              </a:defRPr>
            </a:pPr>
            <a:r>
              <a:rPr sz="1275" b="1">
                <a:solidFill>
                  <a:srgbClr val="07836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49245-807C-4388-9AD6-4E1AC7B6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D"/>
                </a:solidFill>
              </a:defRPr>
            </a:pPr>
            <a:r>
              <a:rPr sz="1875" b="1">
                <a:solidFill>
                  <a:srgbClr val="10231D"/>
                </a:solidFill>
              </a:rPr>
              <a:t>Direct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A18AB-C990-4ACD-B974-A23646E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F"/>
                </a:solidFill>
              </a:defRPr>
            </a:pPr>
            <a:r>
              <a:rPr sz="1350" b="0">
                <a:solidFill>
                  <a:srgbClr val="66756F"/>
                </a:solidFill>
              </a:rPr>
              <a:t>@x402/avm + @x402/express + GoPlausible facilitator.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36084-91D2-4B81-B973-874DF912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8363"/>
                </a:solidFill>
              </a:defRPr>
            </a:pPr>
            <a:r>
              <a:rPr sz="1275" b="1">
                <a:solidFill>
                  <a:srgbClr val="07836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6EE5B-A9C3-449C-A9E7-F990881E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D"/>
                </a:solidFill>
              </a:defRPr>
            </a:pPr>
            <a:r>
              <a:rPr sz="1875" b="1">
                <a:solidFill>
                  <a:srgbClr val="10231D"/>
                </a:solidFill>
              </a:rPr>
              <a:t>Reproducible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FC872-BDB6-4842-812B-760E4975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6F"/>
                </a:solidFill>
              </a:defRPr>
            </a:pPr>
            <a:r>
              <a:rPr sz="1350" b="0">
                <a:solidFill>
                  <a:srgbClr val="66756F"/>
                </a:solidFill>
              </a:rPr>
              <a:t>402 smoke tests, mismatch rejection, and a Lora receipt.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ED48F-34D3-4C96-872E-A94EBBC9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62C21"/>
          </a:solidFill>
          <a:ln xmlns:a="http://schemas.openxmlformats.org/drawingml/2006/main" w="0">
            <a:solidFill>
              <a:srgbClr val="062C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A6A91-D011-4304-B047-A5169819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LIVE  agentpay-firewall.vercel.app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9B6E0-2A8B-4C36-863D-E3128DC5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9700"/>
            <a:ext cx="5581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6F3"/>
          </a:solidFill>
          <a:ln xmlns:a="http://schemas.openxmlformats.org/drawingml/2006/main" w="9525">
            <a:solidFill>
              <a:srgbClr val="C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74C52-A6CD-475D-BEA9-22CB9223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5124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D"/>
                </a:solidFill>
              </a:defRPr>
            </a:pPr>
            <a:r>
              <a:rPr sz="1350" b="1">
                <a:solidFill>
                  <a:srgbClr val="10231D"/>
                </a:solidFill>
              </a:rPr>
              <a:t>CODE  github.com/FeeeeelixWong/agentpay-firewall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313CE-02D5-415C-9428-ED46C110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BRAINWAVE 2026  |  ALGORAND x402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843D4-749A-48B3-8E12-81510F98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56F"/>
                </a:solidFill>
              </a:defRPr>
            </a:pPr>
            <a:r>
              <a:rPr sz="825" b="1">
                <a:solidFill>
                  <a:srgbClr val="66756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1101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2026-08-18T04:43:17.4840000Z</dcterms:created>
  <dcterms:modified xsi:type="dcterms:W3CDTF">2026-08-18T04:43:17.4840000Z</dcterms:modified>
</coreProperties>
</file>